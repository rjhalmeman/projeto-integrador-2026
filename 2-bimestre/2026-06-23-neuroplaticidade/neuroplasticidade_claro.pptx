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Slide de abertura. Fala: 'Galera, se eu te dissesse que você tem um superpoder guardado aí dentro da sua cabeça agora mesmo...' Duração: ~2 min.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1b0008bf3_0_123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g3f1b0008bf3_0_123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Slide de abertura. Fala: 'Galera, se eu te dissesse que você tem um superpoder guardado aí dentro da sua cabeça agora mesmo...' Duração: ~2 min.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1b0008bf3_0_123:notes"/>
          <p:cNvSpPr txBox="1"/>
          <p:nvPr/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Minutos 0:00–0:02. Perguntar: 'Você acreditaria que tem um superpoder?' Destacar que não é ficção científica.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Minutos 0:02–0:06. Explicar a fenda sináptica com a ilustração. Mencionar que neurotransmissores ativam DNA e criam novos receptores.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Usar a metáfora de floresta para explicar a formação de memória de longo prazo. Enfatizar que o PRIMEIRO passo é sempre o mais difícil.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Minutos 0:06–0:09. Lei de Hebb: quanto mais você usa um circuito, menos esforço precisa para ativá-lo. Isso é memória biológica.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Minutos 0:09–0:12. Tapa na realidade: a plasticidade não é só boa. Fugir de desafios reforça o padrão de fuga.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Minutos 0:12–0:14. Ponto de virada! Ação ativa o DNA. O músculo cerebral só muda quando você usa — não quando você estuda sobre ele.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Minutos 0:14–0:15. Fechamento. Não aceit a desculpa 'nasci assim'. O cérebro é plástico. Agradeça e convide para perguntas.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Slides de referência para quem quiser se aprofundar. Hebb (1949) e Kandel (Nobel 2000) são os pilares do conteúdo apresentado.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457200" y="20484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57200" y="120312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57200" y="20484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57200" y="120312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0484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57200" y="1203120"/>
            <a:ext cx="40158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74240" y="1203120"/>
            <a:ext cx="40158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457200" y="20484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457200" y="204840"/>
            <a:ext cx="8229300" cy="39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0484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20312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4674240" y="1203120"/>
            <a:ext cx="40158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3" type="body"/>
          </p:nvPr>
        </p:nvSpPr>
        <p:spPr>
          <a:xfrm>
            <a:off x="45720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0484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203120"/>
            <a:ext cx="40158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674240" y="120312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467424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457200" y="20484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457200" y="120312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2" type="body"/>
          </p:nvPr>
        </p:nvSpPr>
        <p:spPr>
          <a:xfrm>
            <a:off x="4674240" y="120312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3" type="body"/>
          </p:nvPr>
        </p:nvSpPr>
        <p:spPr>
          <a:xfrm>
            <a:off x="45720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457200" y="20484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457200" y="120312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2" type="body"/>
          </p:nvPr>
        </p:nvSpPr>
        <p:spPr>
          <a:xfrm>
            <a:off x="45720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title"/>
          </p:nvPr>
        </p:nvSpPr>
        <p:spPr>
          <a:xfrm>
            <a:off x="457200" y="20484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457200" y="120312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2" type="body"/>
          </p:nvPr>
        </p:nvSpPr>
        <p:spPr>
          <a:xfrm>
            <a:off x="4674240" y="120312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3" type="body"/>
          </p:nvPr>
        </p:nvSpPr>
        <p:spPr>
          <a:xfrm>
            <a:off x="45720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4" type="body"/>
          </p:nvPr>
        </p:nvSpPr>
        <p:spPr>
          <a:xfrm>
            <a:off x="467424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title"/>
          </p:nvPr>
        </p:nvSpPr>
        <p:spPr>
          <a:xfrm>
            <a:off x="457200" y="20484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457200" y="1203120"/>
            <a:ext cx="26496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2" type="body"/>
          </p:nvPr>
        </p:nvSpPr>
        <p:spPr>
          <a:xfrm>
            <a:off x="3239640" y="1203120"/>
            <a:ext cx="26496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3" type="body"/>
          </p:nvPr>
        </p:nvSpPr>
        <p:spPr>
          <a:xfrm>
            <a:off x="6022080" y="1203120"/>
            <a:ext cx="26496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4" type="body"/>
          </p:nvPr>
        </p:nvSpPr>
        <p:spPr>
          <a:xfrm>
            <a:off x="457200" y="2761560"/>
            <a:ext cx="26496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5" type="body"/>
          </p:nvPr>
        </p:nvSpPr>
        <p:spPr>
          <a:xfrm>
            <a:off x="3239640" y="2761560"/>
            <a:ext cx="26496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6" type="body"/>
          </p:nvPr>
        </p:nvSpPr>
        <p:spPr>
          <a:xfrm>
            <a:off x="6022080" y="2761560"/>
            <a:ext cx="26496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0484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312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/>
            </a:lvl1pPr>
            <a:lvl2pPr lvl="1" algn="r">
              <a:buNone/>
              <a:defRPr sz="1300"/>
            </a:lvl2pPr>
            <a:lvl3pPr lvl="2" algn="r">
              <a:buNone/>
              <a:defRPr sz="1300"/>
            </a:lvl3pPr>
            <a:lvl4pPr lvl="3" algn="r">
              <a:buNone/>
              <a:defRPr sz="1300"/>
            </a:lvl4pPr>
            <a:lvl5pPr lvl="4" algn="r">
              <a:buNone/>
              <a:defRPr sz="1300"/>
            </a:lvl5pPr>
            <a:lvl6pPr lvl="5" algn="r">
              <a:buNone/>
              <a:defRPr sz="1300"/>
            </a:lvl6pPr>
            <a:lvl7pPr lvl="6" algn="r">
              <a:buNone/>
              <a:defRPr sz="1300"/>
            </a:lvl7pPr>
            <a:lvl8pPr lvl="7" algn="r">
              <a:buNone/>
              <a:defRPr sz="1300"/>
            </a:lvl8pPr>
            <a:lvl9pPr lvl="8" algn="r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uVtYOnwK0K4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/>
          <p:nvPr/>
        </p:nvSpPr>
        <p:spPr>
          <a:xfrm>
            <a:off x="2432675" y="2623337"/>
            <a:ext cx="49140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Neuroplasticidade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955325" y="3924503"/>
            <a:ext cx="77721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2D0000"/>
                </a:solidFill>
                <a:latin typeface="Calibri"/>
                <a:ea typeface="Calibri"/>
                <a:cs typeface="Calibri"/>
                <a:sym typeface="Calibri"/>
              </a:rPr>
              <a:t>Atualizando o seu Software Biológico</a:t>
            </a:r>
            <a:endParaRPr b="0" i="0" sz="2000" u="none" cap="none" strike="noStrike">
              <a:solidFill>
                <a:srgbClr val="2D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0525" y="304800"/>
            <a:ext cx="1782610" cy="216371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178734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/>
          <p:nvPr/>
        </p:nvSpPr>
        <p:spPr>
          <a:xfrm>
            <a:off x="432450" y="1125449"/>
            <a:ext cx="8279100" cy="24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Baseado no vídeo:</a:t>
            </a:r>
            <a:endParaRPr b="1"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Depois de assistir isso seu cérebro não será o mesmo (Neuroplasticidade)</a:t>
            </a:r>
            <a:endParaRPr b="1"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Eslen Delanogare, acessado em 23/06/2026</a:t>
            </a:r>
            <a:endParaRPr b="1"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>
                <a:solidFill>
                  <a:schemeClr val="dk1"/>
                </a:solidFill>
              </a:rPr>
              <a:t>/10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457200" y="273960"/>
            <a:ext cx="822924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latin typeface="Cambria"/>
                <a:ea typeface="Cambria"/>
                <a:cs typeface="Cambria"/>
                <a:sym typeface="Cambria"/>
              </a:rPr>
              <a:t>O que é Neuroplasticidade?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4663440" y="1005480"/>
            <a:ext cx="4114440" cy="127980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4846320" y="1096920"/>
            <a:ext cx="37486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Definição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846320" y="1416960"/>
            <a:ext cx="374868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A capacidade real e física do cérebro de se moldar e adaptar com base nas suas experiências.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4663440" y="2468520"/>
            <a:ext cx="4114440" cy="127980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4846258" y="3105550"/>
            <a:ext cx="3748800" cy="77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Na pr</a:t>
            </a:r>
            <a:r>
              <a:rPr lang="en-US" sz="1800"/>
              <a:t>ática, NÃO estamos presos à genética! O cérebro é um rascunho, não um ponto final.</a:t>
            </a:r>
            <a:endParaRPr sz="1800"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0360"/>
            <a:ext cx="3970742" cy="397074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457200" y="200880"/>
            <a:ext cx="8229240" cy="548280"/>
          </a:xfrm>
          <a:prstGeom prst="rect">
            <a:avLst/>
          </a:prstGeom>
          <a:solidFill>
            <a:srgbClr val="FFFFFF"/>
          </a:solidFill>
          <a:ln cap="flat" cmpd="sng" w="1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Neurônios e Sinapses</a:t>
            </a:r>
            <a:endParaRPr sz="3600"/>
          </a:p>
        </p:txBody>
      </p:sp>
      <p:sp>
        <p:nvSpPr>
          <p:cNvPr id="108" name="Google Shape;108;p17"/>
          <p:cNvSpPr/>
          <p:nvPr/>
        </p:nvSpPr>
        <p:spPr>
          <a:xfrm>
            <a:off x="457200" y="731160"/>
            <a:ext cx="8229240" cy="319680"/>
          </a:xfrm>
          <a:prstGeom prst="rect">
            <a:avLst/>
          </a:prstGeom>
          <a:solidFill>
            <a:srgbClr val="FFFFFF"/>
          </a:solidFill>
          <a:ln cap="flat" cmpd="sng" w="1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Como a máquina funciona</a:t>
            </a:r>
            <a:endParaRPr/>
          </a:p>
        </p:txBody>
      </p:sp>
      <p:pic>
        <p:nvPicPr>
          <p:cNvPr descr="preencoded.png" id="109" name="Google Shape;1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1051200"/>
            <a:ext cx="347040" cy="347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5943600" y="1023840"/>
            <a:ext cx="2925720" cy="319680"/>
          </a:xfrm>
          <a:prstGeom prst="rect">
            <a:avLst/>
          </a:prstGeom>
          <a:solidFill>
            <a:srgbClr val="FFFFFF"/>
          </a:solidFill>
          <a:ln cap="flat" cmpd="sng" w="1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86 bilhões de neurônios</a:t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5943600" y="1352880"/>
            <a:ext cx="2925720" cy="502560"/>
          </a:xfrm>
          <a:prstGeom prst="rect">
            <a:avLst/>
          </a:prstGeom>
          <a:solidFill>
            <a:srgbClr val="FFFFFF"/>
          </a:solidFill>
          <a:ln cap="flat" cmpd="sng" w="1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Redes imensas de processamento.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2" name="Google Shape;11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2102760"/>
            <a:ext cx="347040" cy="347040"/>
          </a:xfrm>
          <a:prstGeom prst="rect">
            <a:avLst/>
          </a:prstGeom>
          <a:noFill/>
          <a:ln cap="flat" cmpd="sng" w="190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3" name="Google Shape;113;p17"/>
          <p:cNvSpPr/>
          <p:nvPr/>
        </p:nvSpPr>
        <p:spPr>
          <a:xfrm>
            <a:off x="5943600" y="2075400"/>
            <a:ext cx="2925720" cy="319680"/>
          </a:xfrm>
          <a:prstGeom prst="rect">
            <a:avLst/>
          </a:prstGeom>
          <a:solidFill>
            <a:srgbClr val="FFFFFF"/>
          </a:solidFill>
          <a:ln cap="flat" cmpd="sng" w="1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Fenda sináptica</a:t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5943600" y="2404440"/>
            <a:ext cx="2925720" cy="502560"/>
          </a:xfrm>
          <a:prstGeom prst="rect">
            <a:avLst/>
          </a:prstGeom>
          <a:solidFill>
            <a:srgbClr val="FFFFFF"/>
          </a:solidFill>
          <a:ln cap="flat" cmpd="sng" w="1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Neurônios não se tocam — há um espaço!</a:t>
            </a:r>
            <a:endParaRPr/>
          </a:p>
        </p:txBody>
      </p:sp>
      <p:pic>
        <p:nvPicPr>
          <p:cNvPr descr="preencoded.png" id="115" name="Google Shape;11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0" y="3154320"/>
            <a:ext cx="347040" cy="347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/>
          <p:nvPr/>
        </p:nvSpPr>
        <p:spPr>
          <a:xfrm>
            <a:off x="5943600" y="3126960"/>
            <a:ext cx="2925720" cy="319680"/>
          </a:xfrm>
          <a:prstGeom prst="rect">
            <a:avLst/>
          </a:prstGeom>
          <a:solidFill>
            <a:srgbClr val="FFFFFF"/>
          </a:solidFill>
          <a:ln cap="flat" cmpd="sng" w="1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Neurotransmissores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5943600" y="3456000"/>
            <a:ext cx="2925720" cy="502560"/>
          </a:xfrm>
          <a:prstGeom prst="rect">
            <a:avLst/>
          </a:prstGeom>
          <a:solidFill>
            <a:srgbClr val="FFFFFF"/>
          </a:solidFill>
          <a:ln cap="flat" cmpd="sng" w="1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Serotonina, Dopamina, Noradrenalina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265350"/>
            <a:ext cx="3725750" cy="3725750"/>
          </a:xfrm>
          <a:prstGeom prst="rect">
            <a:avLst/>
          </a:prstGeom>
          <a:noFill/>
          <a:ln cap="flat" cmpd="sng" w="1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457200" y="200880"/>
            <a:ext cx="8229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Analogia </a:t>
            </a:r>
            <a:r>
              <a:rPr b="1" lang="en-US" sz="2300">
                <a:solidFill>
                  <a:schemeClr val="dk1"/>
                </a:solidFill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(para todo mundo ficar feliz)</a:t>
            </a:r>
            <a:endParaRPr b="0" i="0" sz="23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5577840" y="1051200"/>
            <a:ext cx="383760" cy="383760"/>
          </a:xfrm>
          <a:prstGeom prst="ellipse">
            <a:avLst/>
          </a:prstGeom>
          <a:solidFill>
            <a:srgbClr val="8B5E3C"/>
          </a:solidFill>
          <a:ln cap="flat" cmpd="sng" w="126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5577840" y="1051200"/>
            <a:ext cx="38376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080735" y="923590"/>
            <a:ext cx="27429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Trilha na floresta</a:t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6080760" y="1343880"/>
            <a:ext cx="2742840" cy="54828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Difícil, cheio de mato. Aprender algo novo dói um pouco!</a:t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5577840" y="2148480"/>
            <a:ext cx="383760" cy="383760"/>
          </a:xfrm>
          <a:prstGeom prst="ellipse">
            <a:avLst/>
          </a:prstGeom>
          <a:solidFill>
            <a:srgbClr val="D97706"/>
          </a:solidFill>
          <a:ln cap="flat" cmpd="sng" w="126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5577840" y="2148480"/>
            <a:ext cx="38376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080760" y="2130120"/>
            <a:ext cx="27428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Estrada de terra </a:t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6080760" y="2441160"/>
            <a:ext cx="27428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Com repetição, o caminho vai ficando mais fácil.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5577840" y="3245760"/>
            <a:ext cx="383760" cy="383760"/>
          </a:xfrm>
          <a:prstGeom prst="ellipse">
            <a:avLst/>
          </a:prstGeom>
          <a:solidFill>
            <a:srgbClr val="06B6D4"/>
          </a:solidFill>
          <a:ln cap="flat" cmpd="sng" w="126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5577840" y="3245760"/>
            <a:ext cx="38376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6080760" y="3227400"/>
            <a:ext cx="27428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Rodovia asfaltada</a:t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6080750" y="3538457"/>
            <a:ext cx="27429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Hábito formado! Pouco esforço, alto desempenho.</a:t>
            </a:r>
            <a:endParaRPr b="0" i="0" sz="1600" u="none" cap="none" strike="noStrike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/10</a:t>
            </a:r>
            <a:endParaRPr/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650" y="1409150"/>
            <a:ext cx="5039825" cy="3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1390063" y="1387163"/>
            <a:ext cx="263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Como aprendemos?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F8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>
            <a:off x="457200" y="20088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1B4B"/>
                </a:solidFill>
                <a:latin typeface="Cambria"/>
                <a:ea typeface="Cambria"/>
                <a:cs typeface="Cambria"/>
                <a:sym typeface="Cambria"/>
              </a:rPr>
              <a:t>A Lei de Hebb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457200" y="868320"/>
            <a:ext cx="8229240" cy="1051200"/>
          </a:xfrm>
          <a:prstGeom prst="roundRect">
            <a:avLst>
              <a:gd fmla="val 12174" name="adj"/>
            </a:avLst>
          </a:prstGeom>
          <a:solidFill>
            <a:schemeClr val="dk1"/>
          </a:solidFill>
          <a:ln cap="flat" cmpd="sng" w="12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640080" y="959760"/>
            <a:ext cx="786348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"Neurons that fire together, wire together"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640080" y="1481040"/>
            <a:ext cx="78634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 Donald Hebb, 1949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365760" y="2102760"/>
            <a:ext cx="2651400" cy="260568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90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dir="2700000" dist="37674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2239920"/>
            <a:ext cx="594000" cy="5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/>
          <p:nvPr/>
        </p:nvSpPr>
        <p:spPr>
          <a:xfrm>
            <a:off x="457200" y="2925720"/>
            <a:ext cx="246852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Músicos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457200" y="3309840"/>
            <a:ext cx="2468520" cy="118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Córtex auditivo gigante e super ramificado.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3200400" y="2102760"/>
            <a:ext cx="2651400" cy="260568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907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dir="2700000" dist="37674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0" y="2239920"/>
            <a:ext cx="594000" cy="5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/>
          <p:nvPr/>
        </p:nvSpPr>
        <p:spPr>
          <a:xfrm>
            <a:off x="3291840" y="2925720"/>
            <a:ext cx="246852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Malabaristas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3291840" y="3309840"/>
            <a:ext cx="2468520" cy="118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Equilíbrio e coordenação motora muito mais desenvolvidos.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6035040" y="2102760"/>
            <a:ext cx="2651400" cy="260568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907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dir="2700000" dist="37674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" name="Google Shape;15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0880" y="2239920"/>
            <a:ext cx="594000" cy="5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/>
          <p:nvPr/>
        </p:nvSpPr>
        <p:spPr>
          <a:xfrm>
            <a:off x="6126480" y="2925720"/>
            <a:ext cx="246852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Poliglotas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6126480" y="3309840"/>
            <a:ext cx="2468520" cy="118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Áreas de linguagem robustas — protegem contra Alzheimer!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/>
          <p:nvPr/>
        </p:nvSpPr>
        <p:spPr>
          <a:xfrm>
            <a:off x="967000" y="200880"/>
            <a:ext cx="8229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EF4444"/>
                </a:solidFill>
                <a:latin typeface="Cambria"/>
                <a:ea typeface="Cambria"/>
                <a:cs typeface="Cambria"/>
                <a:sym typeface="Cambria"/>
              </a:rPr>
              <a:t>O Lado Sombrio: Plasticidade Negativa</a:t>
            </a:r>
            <a:endParaRPr b="0" i="0" sz="3200" u="none" cap="none" strike="noStrike">
              <a:solidFill>
                <a:srgbClr val="EF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48575" y="749285"/>
            <a:ext cx="82293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Neuroplasticidade é neutra — ela não julga o que você repete.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846325" y="1348301"/>
            <a:ext cx="3931500" cy="2902200"/>
          </a:xfrm>
          <a:prstGeom prst="roundRect">
            <a:avLst>
              <a:gd fmla="val 4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498" y="246652"/>
            <a:ext cx="456840" cy="45684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/>
          <p:nvPr/>
        </p:nvSpPr>
        <p:spPr>
          <a:xfrm>
            <a:off x="4369750" y="1196050"/>
            <a:ext cx="4316700" cy="3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Ansiedade social: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 foge da apresentação → sente alívio → cérebro aprende: 'esquivar funciona!' → na próxima vez foge ainda mais fácil.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Procrastinação, depressão e ansiedade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anos → seu cérebro se torna neuroplasticamente perfeito naquilo de ruim.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/10</a:t>
            </a:r>
            <a:endParaRPr/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800" y="1451875"/>
            <a:ext cx="4017076" cy="264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/>
          <p:nvPr/>
        </p:nvSpPr>
        <p:spPr>
          <a:xfrm>
            <a:off x="457200" y="200880"/>
            <a:ext cx="822924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Seja um FAZEDOR, não um </a:t>
            </a:r>
            <a:r>
              <a:rPr b="1" lang="en-US" sz="3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APRENDEDOR</a:t>
            </a:r>
            <a:r>
              <a:rPr b="1" i="0" lang="en-US" sz="33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365760" y="959760"/>
            <a:ext cx="4114440" cy="3657240"/>
          </a:xfrm>
          <a:prstGeom prst="roundRect">
            <a:avLst>
              <a:gd fmla="val 3500" name="adj"/>
            </a:avLst>
          </a:prstGeom>
          <a:solidFill>
            <a:srgbClr val="7C3AED">
              <a:alpha val="14901"/>
            </a:srgbClr>
          </a:solidFill>
          <a:ln cap="flat" cmpd="sng" w="255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457200" y="1096920"/>
            <a:ext cx="393156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APRENDEDOR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548640" y="1627200"/>
            <a:ext cx="37486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›  Assiste 10h de YouTube sobre Jiu-Jitsu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548640" y="2313000"/>
            <a:ext cx="37486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›  Lê 3 livros sobre falar em público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548640" y="2998800"/>
            <a:ext cx="37486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›  Muda a área TEÓRICA do cérebro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548640" y="3684600"/>
            <a:ext cx="37486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›  Conhecimento sem transformação física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4846320" y="959760"/>
            <a:ext cx="4114440" cy="3657240"/>
          </a:xfrm>
          <a:prstGeom prst="roundRect">
            <a:avLst>
              <a:gd fmla="val 3500" name="adj"/>
            </a:avLst>
          </a:prstGeom>
          <a:solidFill>
            <a:srgbClr val="34D399">
              <a:alpha val="14901"/>
            </a:srgbClr>
          </a:solidFill>
          <a:ln cap="flat" cmpd="sng" w="2555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4937760" y="1096920"/>
            <a:ext cx="393156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FAZEDOR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5029200" y="1627200"/>
            <a:ext cx="37486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›  Pisa no tatame com o coração na boca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029200" y="2313000"/>
            <a:ext cx="37486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Sobe ao palco mesmo com medo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5029200" y="2998800"/>
            <a:ext cx="37486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›  Muda a estrutura FÍSICA do cérebro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029200" y="3684600"/>
            <a:ext cx="37486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›  Redesenha circuitos neurais de verdade!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366263" y="2377080"/>
            <a:ext cx="594000" cy="594000"/>
          </a:xfrm>
          <a:prstGeom prst="ellipse">
            <a:avLst/>
          </a:prstGeom>
          <a:solidFill>
            <a:srgbClr val="F59E0B"/>
          </a:solidFill>
          <a:ln cap="flat" cmpd="sng" w="126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366263" y="2377080"/>
            <a:ext cx="594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/>
          <p:nvPr/>
        </p:nvSpPr>
        <p:spPr>
          <a:xfrm>
            <a:off x="457200" y="228240"/>
            <a:ext cx="82292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Para Fechar: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457200" y="914040"/>
            <a:ext cx="8229240" cy="1096920"/>
          </a:xfrm>
          <a:prstGeom prst="roundRect">
            <a:avLst>
              <a:gd fmla="val 10000" name="adj"/>
            </a:avLst>
          </a:prstGeom>
          <a:solidFill>
            <a:schemeClr val="lt1"/>
          </a:solidFill>
          <a:ln cap="flat" cmpd="sng" w="190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594360" y="1234080"/>
            <a:ext cx="456840" cy="456840"/>
          </a:xfrm>
          <a:prstGeom prst="ellipse">
            <a:avLst/>
          </a:prstGeom>
          <a:solidFill>
            <a:srgbClr val="7C3AED"/>
          </a:solidFill>
          <a:ln cap="flat" cmpd="sng" w="126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594360" y="1234080"/>
            <a:ext cx="456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0D2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360" y="1170000"/>
            <a:ext cx="502560" cy="50256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/>
          <p:nvPr/>
        </p:nvSpPr>
        <p:spPr>
          <a:xfrm>
            <a:off x="1828800" y="1023840"/>
            <a:ext cx="658332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Seu cérebro muda com a experiência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1828800" y="1371240"/>
            <a:ext cx="658332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Nenhum traço é permanente. Genética não é destino.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457200" y="2148480"/>
            <a:ext cx="8229240" cy="1096920"/>
          </a:xfrm>
          <a:prstGeom prst="roundRect">
            <a:avLst>
              <a:gd fmla="val 10000" name="adj"/>
            </a:avLst>
          </a:prstGeom>
          <a:solidFill>
            <a:schemeClr val="lt1"/>
          </a:solidFill>
          <a:ln cap="flat" cmpd="sng" w="190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594360" y="2468520"/>
            <a:ext cx="456840" cy="456840"/>
          </a:xfrm>
          <a:prstGeom prst="ellipse">
            <a:avLst/>
          </a:prstGeom>
          <a:solidFill>
            <a:srgbClr val="06B6D4"/>
          </a:solidFill>
          <a:ln cap="flat" cmpd="sng" w="126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594360" y="2468520"/>
            <a:ext cx="456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0D2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1" name="Google Shape;21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0360" y="2404440"/>
            <a:ext cx="502560" cy="50256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/>
          <p:nvPr/>
        </p:nvSpPr>
        <p:spPr>
          <a:xfrm>
            <a:off x="1828800" y="2258280"/>
            <a:ext cx="658332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Repetição cria rodovias neurais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1828800" y="2605680"/>
            <a:ext cx="658332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Quanto mais você pratica, menos esforço precisa.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457200" y="3382920"/>
            <a:ext cx="8229240" cy="1096920"/>
          </a:xfrm>
          <a:prstGeom prst="roundRect">
            <a:avLst>
              <a:gd fmla="val 10000" name="adj"/>
            </a:avLst>
          </a:prstGeom>
          <a:solidFill>
            <a:schemeClr val="lt1"/>
          </a:solidFill>
          <a:ln cap="flat" cmpd="sng" w="190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594360" y="3702960"/>
            <a:ext cx="456840" cy="456840"/>
          </a:xfrm>
          <a:prstGeom prst="ellipse">
            <a:avLst/>
          </a:prstGeom>
          <a:solidFill>
            <a:srgbClr val="34D399"/>
          </a:solidFill>
          <a:ln cap="flat" cmpd="sng" w="126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594360" y="3702960"/>
            <a:ext cx="456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0D2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7" name="Google Shape;21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0360" y="3638880"/>
            <a:ext cx="502560" cy="50256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/>
          <p:nvPr/>
        </p:nvSpPr>
        <p:spPr>
          <a:xfrm>
            <a:off x="1828800" y="3492720"/>
            <a:ext cx="658332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Só a ação transforma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1828800" y="3840120"/>
            <a:ext cx="658332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Enfrente o desconforto. O aprendizado real dói um pouco.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F8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/>
          <p:nvPr/>
        </p:nvSpPr>
        <p:spPr>
          <a:xfrm>
            <a:off x="457200" y="22824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Cambria"/>
                <a:ea typeface="Cambria"/>
                <a:cs typeface="Cambria"/>
                <a:sym typeface="Cambria"/>
              </a:rPr>
              <a:t>Referências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457200" y="1005480"/>
            <a:ext cx="8229240" cy="1599840"/>
          </a:xfrm>
          <a:prstGeom prst="roundRect">
            <a:avLst>
              <a:gd fmla="val 7429" name="adj"/>
            </a:avLst>
          </a:prstGeom>
          <a:solidFill>
            <a:schemeClr val="lt1"/>
          </a:solidFill>
          <a:ln cap="flat" cmpd="sng" w="190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dir="2700000" dist="25455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640080" y="1115280"/>
            <a:ext cx="78634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HEBB, Donald O.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640080" y="1462680"/>
            <a:ext cx="786348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The Organization of Behavior: A Neuropsychological Theory. New York: John Wiley &amp; Sons, 1949.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640080" y="1992960"/>
            <a:ext cx="786348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Obra fundacional da 'Lei de Hebb' — base de toda a teoria de aprendizado e plasticidade sináptica.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457200" y="2834280"/>
            <a:ext cx="8229240" cy="1599840"/>
          </a:xfrm>
          <a:prstGeom prst="roundRect">
            <a:avLst>
              <a:gd fmla="val 7429" name="adj"/>
            </a:avLst>
          </a:prstGeom>
          <a:solidFill>
            <a:schemeClr val="lt1"/>
          </a:solidFill>
          <a:ln cap="flat" cmpd="sng" w="1907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dir="2700000" dist="25455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640080" y="2944080"/>
            <a:ext cx="78634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KANDEL, Eric R.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640080" y="3291480"/>
            <a:ext cx="786348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Pesquisas moleculares sobre formação de memória em Aplysia californica. Décadas de 1980–1990.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640080" y="3821760"/>
            <a:ext cx="786348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Prêmio Nobel de Fisiologia ou Medicina (2000): bases neurobiológicas das mudanças sinápticas durante o aprendizado.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3"/>
          <p:cNvSpPr txBox="1"/>
          <p:nvPr>
            <p:ph idx="12" type="sldNum"/>
          </p:nvPr>
        </p:nvSpPr>
        <p:spPr>
          <a:xfrm>
            <a:off x="8277346" y="4716775"/>
            <a:ext cx="828000" cy="4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